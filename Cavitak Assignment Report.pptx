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1" r:id="rId3"/>
    <p:sldId id="282" r:id="rId4"/>
    <p:sldId id="283" r:id="rId5"/>
    <p:sldId id="280" r:id="rId6"/>
    <p:sldId id="26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B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hemant-gupta-4914baa6" TargetMode="External"/><Relationship Id="rId2" Type="http://schemas.openxmlformats.org/officeDocument/2006/relationships/hyperlink" Target="Cavitak_Power%20BI_Assignment.pbix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5D898-B474-B697-5073-62A02A58D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6616" y="1956426"/>
            <a:ext cx="9560882" cy="1643001"/>
          </a:xfrm>
        </p:spPr>
        <p:txBody>
          <a:bodyPr>
            <a:normAutofit fontScale="90000"/>
          </a:bodyPr>
          <a:lstStyle/>
          <a:p>
            <a:r>
              <a:rPr lang="en-IN" sz="3200" dirty="0">
                <a:solidFill>
                  <a:srgbClr val="C00000"/>
                </a:solidFill>
                <a:latin typeface="Aptos" panose="020B0004020202020204" pitchFamily="34" charset="0"/>
              </a:rPr>
              <a:t>                      </a:t>
            </a:r>
            <a:r>
              <a:rPr lang="en-IN" sz="3200" dirty="0">
                <a:solidFill>
                  <a:schemeClr val="tx1"/>
                </a:solidFill>
                <a:latin typeface="Aptos" panose="020B0004020202020204" pitchFamily="34" charset="0"/>
              </a:rPr>
              <a:t>“Cavitak- Data Analyst Assignment”</a:t>
            </a:r>
            <a:br>
              <a:rPr lang="en-IN" sz="3200" dirty="0">
                <a:solidFill>
                  <a:srgbClr val="C00000"/>
                </a:solidFill>
                <a:latin typeface="Aptos" panose="020B0004020202020204" pitchFamily="34" charset="0"/>
              </a:rPr>
            </a:br>
            <a:br>
              <a:rPr lang="en-IN" sz="3200" dirty="0">
                <a:solidFill>
                  <a:srgbClr val="C00000"/>
                </a:solidFill>
                <a:latin typeface="Aptos" panose="020B0004020202020204" pitchFamily="34" charset="0"/>
              </a:rPr>
            </a:br>
            <a:r>
              <a:rPr lang="en-IN" sz="2000" dirty="0">
                <a:solidFill>
                  <a:srgbClr val="7030A0"/>
                </a:solidFill>
                <a:latin typeface="Aptos" panose="020B0004020202020204" pitchFamily="34" charset="0"/>
              </a:rPr>
              <a:t>GitHub Link for Dashboard:-</a:t>
            </a:r>
            <a:r>
              <a:rPr lang="en-IN" sz="2000" dirty="0">
                <a:solidFill>
                  <a:srgbClr val="C00000"/>
                </a:solidFill>
                <a:latin typeface="Aptos" panose="020B0004020202020204" pitchFamily="34" charset="0"/>
                <a:hlinkClick r:id="rId2" action="ppaction://hlinkfile"/>
              </a:rPr>
              <a:t>https://github.com/hemantg111/Cavitak_Assignment_Power-BI.git</a:t>
            </a:r>
            <a:endParaRPr lang="en-IN" sz="3200" i="1" dirty="0">
              <a:solidFill>
                <a:srgbClr val="C00000"/>
              </a:solidFill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561088-D6AA-266E-D6FE-220922990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2837" y="4777379"/>
            <a:ext cx="5326143" cy="1126283"/>
          </a:xfrm>
        </p:spPr>
        <p:txBody>
          <a:bodyPr>
            <a:noAutofit/>
          </a:bodyPr>
          <a:lstStyle/>
          <a:p>
            <a:r>
              <a:rPr lang="en-IN" sz="1400" dirty="0">
                <a:solidFill>
                  <a:srgbClr val="002060"/>
                </a:solidFill>
              </a:rPr>
              <a:t>                                        </a:t>
            </a:r>
            <a:r>
              <a:rPr lang="en-IN" sz="1400" dirty="0">
                <a:solidFill>
                  <a:srgbClr val="002060"/>
                </a:solidFill>
                <a:latin typeface="Aptos" panose="020B0004020202020204" pitchFamily="34" charset="0"/>
              </a:rPr>
              <a:t>By</a:t>
            </a:r>
          </a:p>
          <a:p>
            <a:r>
              <a:rPr lang="en-IN" sz="1400" dirty="0">
                <a:solidFill>
                  <a:srgbClr val="002060"/>
                </a:solidFill>
                <a:latin typeface="Aptos" panose="020B0004020202020204" pitchFamily="34" charset="0"/>
              </a:rPr>
              <a:t>                                          Hemant Gupta</a:t>
            </a:r>
            <a:br>
              <a:rPr lang="en-IN" sz="1400" dirty="0">
                <a:solidFill>
                  <a:srgbClr val="002060"/>
                </a:solidFill>
                <a:latin typeface="Aptos" panose="020B0004020202020204" pitchFamily="34" charset="0"/>
              </a:rPr>
            </a:br>
            <a:r>
              <a:rPr lang="en-IN" sz="1400" dirty="0">
                <a:solidFill>
                  <a:srgbClr val="7030A0"/>
                </a:solidFill>
                <a:latin typeface="Aptos" panose="020B0004020202020204" pitchFamily="34" charset="0"/>
              </a:rPr>
              <a:t>LinkedIn-</a:t>
            </a:r>
            <a:r>
              <a:rPr lang="en-IN" sz="1400" dirty="0">
                <a:solidFill>
                  <a:srgbClr val="0070C0"/>
                </a:solidFill>
                <a:latin typeface="Aptos" panose="020B0004020202020204" pitchFamily="34" charset="0"/>
              </a:rPr>
              <a:t> </a:t>
            </a:r>
            <a:r>
              <a:rPr lang="en-IN" sz="1400" dirty="0">
                <a:solidFill>
                  <a:srgbClr val="FF0000"/>
                </a:solidFill>
                <a:latin typeface="Aptos" panose="020B0004020202020204" pitchFamily="34" charset="0"/>
                <a:hlinkClick r:id="rId3"/>
              </a:rPr>
              <a:t>https://www.linkedin.com/in/hemant-gupta-4914baa6</a:t>
            </a:r>
            <a:endParaRPr lang="en-IN" sz="14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endParaRPr lang="en-IN" sz="1400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380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41AAB6-52DE-50D7-0AC7-CF6B87C81C10}"/>
              </a:ext>
            </a:extLst>
          </p:cNvPr>
          <p:cNvSpPr txBox="1"/>
          <p:nvPr/>
        </p:nvSpPr>
        <p:spPr>
          <a:xfrm>
            <a:off x="3046047" y="459029"/>
            <a:ext cx="6099906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sz="1200" dirty="0">
                <a:latin typeface="Aptos" panose="020B0004020202020204" pitchFamily="34" charset="0"/>
              </a:rPr>
            </a:br>
            <a:endParaRPr lang="en-US" sz="1200" dirty="0">
              <a:solidFill>
                <a:srgbClr val="C00000"/>
              </a:solidFill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sz="1600" b="1" dirty="0">
                <a:solidFill>
                  <a:srgbClr val="C00000"/>
                </a:solidFill>
                <a:latin typeface="Aptos" panose="020B0004020202020204" pitchFamily="34" charset="0"/>
              </a:rPr>
              <a:t>                       Sales Analytics Dashboard – Key Insights</a:t>
            </a:r>
            <a:br>
              <a:rPr lang="en-US" sz="1600" b="1" dirty="0">
                <a:solidFill>
                  <a:srgbClr val="C00000"/>
                </a:solidFill>
                <a:latin typeface="Aptos" panose="020B0004020202020204" pitchFamily="34" charset="0"/>
              </a:rPr>
            </a:br>
            <a:br>
              <a:rPr lang="en-US" sz="1200" b="1" dirty="0">
                <a:latin typeface="Aptos" panose="020B0004020202020204" pitchFamily="34" charset="0"/>
              </a:rPr>
            </a:br>
            <a:endParaRPr lang="en-US" sz="1200" b="1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sz="1200" b="1" dirty="0">
                <a:solidFill>
                  <a:srgbClr val="0070C0"/>
                </a:solidFill>
                <a:latin typeface="Aptos" panose="020B0004020202020204" pitchFamily="34" charset="0"/>
              </a:rPr>
              <a:t>1. Top 5 Products by Revenue</a:t>
            </a:r>
            <a:br>
              <a:rPr lang="en-US" sz="1200" b="1" dirty="0">
                <a:latin typeface="Aptos" panose="020B0004020202020204" pitchFamily="34" charset="0"/>
              </a:rPr>
            </a:br>
            <a:endParaRPr lang="en-US" sz="1200" b="1" dirty="0">
              <a:latin typeface="Aptos" panose="020B00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b="1" dirty="0">
                <a:latin typeface="Aptos" panose="020B0004020202020204" pitchFamily="34" charset="0"/>
              </a:rPr>
              <a:t>Printer</a:t>
            </a:r>
            <a:r>
              <a:rPr lang="en-US" sz="1200" dirty="0">
                <a:latin typeface="Aptos" panose="020B0004020202020204" pitchFamily="34" charset="0"/>
              </a:rPr>
              <a:t> generated the </a:t>
            </a:r>
            <a:r>
              <a:rPr lang="en-US" sz="1200" b="1" dirty="0">
                <a:latin typeface="Aptos" panose="020B0004020202020204" pitchFamily="34" charset="0"/>
              </a:rPr>
              <a:t>highest revenue (₹20.55M)</a:t>
            </a:r>
            <a:r>
              <a:rPr lang="en-US" sz="1200" dirty="0">
                <a:latin typeface="Aptos" panose="020B0004020202020204" pitchFamily="34" charset="0"/>
              </a:rPr>
              <a:t>, followed by </a:t>
            </a:r>
            <a:r>
              <a:rPr lang="en-US" sz="1200" b="1" dirty="0">
                <a:latin typeface="Aptos" panose="020B0004020202020204" pitchFamily="34" charset="0"/>
              </a:rPr>
              <a:t>Laptop</a:t>
            </a:r>
            <a:r>
              <a:rPr lang="en-US" sz="1200" dirty="0">
                <a:latin typeface="Aptos" panose="020B0004020202020204" pitchFamily="34" charset="0"/>
              </a:rPr>
              <a:t> (₹18.86M) and </a:t>
            </a:r>
            <a:r>
              <a:rPr lang="en-US" sz="1200" b="1" dirty="0">
                <a:latin typeface="Aptos" panose="020B0004020202020204" pitchFamily="34" charset="0"/>
              </a:rPr>
              <a:t>Webcam</a:t>
            </a:r>
            <a:r>
              <a:rPr lang="en-US" sz="1200" dirty="0">
                <a:latin typeface="Aptos" panose="020B0004020202020204" pitchFamily="34" charset="0"/>
              </a:rPr>
              <a:t> (₹18.29M).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Aptos" panose="020B0004020202020204" pitchFamily="34" charset="0"/>
              </a:rPr>
              <a:t>Indicates strong demand for </a:t>
            </a:r>
            <a:r>
              <a:rPr lang="en-US" sz="1200" b="1" dirty="0">
                <a:latin typeface="Aptos" panose="020B0004020202020204" pitchFamily="34" charset="0"/>
              </a:rPr>
              <a:t>office-related electronic products</a:t>
            </a:r>
            <a:r>
              <a:rPr lang="en-US" sz="1200" dirty="0">
                <a:latin typeface="Aptos" panose="020B0004020202020204" pitchFamily="34" charset="0"/>
              </a:rPr>
              <a:t> like printers and laptops.</a:t>
            </a:r>
          </a:p>
          <a:p>
            <a:br>
              <a:rPr lang="en-US" sz="1200" dirty="0">
                <a:solidFill>
                  <a:srgbClr val="0070C0"/>
                </a:solidFill>
                <a:latin typeface="Aptos" panose="020B0004020202020204" pitchFamily="34" charset="0"/>
              </a:rPr>
            </a:br>
            <a:r>
              <a:rPr lang="en-US" sz="1200" b="1" dirty="0">
                <a:latin typeface="Aptos" panose="020B0004020202020204" pitchFamily="34" charset="0"/>
              </a:rPr>
              <a:t>Suggestion: </a:t>
            </a:r>
            <a:r>
              <a:rPr lang="en-US" sz="1200" dirty="0">
                <a:latin typeface="Aptos" panose="020B0004020202020204" pitchFamily="34" charset="0"/>
              </a:rPr>
              <a:t>Increase inventory and marketing for high-demand products.</a:t>
            </a:r>
          </a:p>
          <a:p>
            <a:pPr>
              <a:buNone/>
            </a:pPr>
            <a:br>
              <a:rPr lang="en-US" sz="1200" dirty="0">
                <a:latin typeface="Aptos" panose="020B0004020202020204" pitchFamily="34" charset="0"/>
              </a:rPr>
            </a:br>
            <a:endParaRPr lang="en-US" sz="1200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sz="1200" b="1" dirty="0">
                <a:solidFill>
                  <a:srgbClr val="0070C0"/>
                </a:solidFill>
                <a:latin typeface="Aptos" panose="020B0004020202020204" pitchFamily="34" charset="0"/>
              </a:rPr>
              <a:t>2. Top 5 Customers by Revenue</a:t>
            </a:r>
            <a:br>
              <a:rPr lang="en-US" sz="1200" b="1" dirty="0">
                <a:latin typeface="Aptos" panose="020B0004020202020204" pitchFamily="34" charset="0"/>
              </a:rPr>
            </a:br>
            <a:endParaRPr lang="en-US" sz="1200" b="1" dirty="0">
              <a:latin typeface="Aptos" panose="020B00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Aptos" panose="020B0004020202020204" pitchFamily="34" charset="0"/>
              </a:rPr>
              <a:t>The </a:t>
            </a:r>
            <a:r>
              <a:rPr lang="en-US" sz="1200" b="1" dirty="0">
                <a:latin typeface="Aptos" panose="020B0004020202020204" pitchFamily="34" charset="0"/>
              </a:rPr>
              <a:t>top 5 customers</a:t>
            </a:r>
            <a:r>
              <a:rPr lang="en-US" sz="1200" dirty="0">
                <a:latin typeface="Aptos" panose="020B0004020202020204" pitchFamily="34" charset="0"/>
              </a:rPr>
              <a:t> contributed </a:t>
            </a:r>
            <a:r>
              <a:rPr lang="en-US" sz="1200" b="1" dirty="0">
                <a:latin typeface="Aptos" panose="020B0004020202020204" pitchFamily="34" charset="0"/>
              </a:rPr>
              <a:t>₹26.50M</a:t>
            </a:r>
            <a:r>
              <a:rPr lang="en-US" sz="1200" dirty="0">
                <a:latin typeface="Aptos" panose="020B0004020202020204" pitchFamily="34" charset="0"/>
              </a:rPr>
              <a:t> in total revenue.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dirty="0">
                <a:latin typeface="Aptos" panose="020B0004020202020204" pitchFamily="34" charset="0"/>
              </a:rPr>
              <a:t>Customer_53</a:t>
            </a:r>
            <a:r>
              <a:rPr lang="en-US" sz="1200" dirty="0">
                <a:latin typeface="Aptos" panose="020B0004020202020204" pitchFamily="34" charset="0"/>
              </a:rPr>
              <a:t> is the top buyer with </a:t>
            </a:r>
            <a:r>
              <a:rPr lang="en-US" sz="1200" b="1" dirty="0">
                <a:latin typeface="Aptos" panose="020B0004020202020204" pitchFamily="34" charset="0"/>
              </a:rPr>
              <a:t>₹6.09M</a:t>
            </a:r>
            <a:r>
              <a:rPr lang="en-US" sz="1200" dirty="0">
                <a:latin typeface="Aptos" panose="020B0004020202020204" pitchFamily="34" charset="0"/>
              </a:rPr>
              <a:t> in purchases.</a:t>
            </a:r>
            <a:br>
              <a:rPr lang="en-US" sz="1200" dirty="0">
                <a:latin typeface="Aptos" panose="020B0004020202020204" pitchFamily="34" charset="0"/>
              </a:rPr>
            </a:br>
            <a:endParaRPr lang="en-US" sz="1200" dirty="0">
              <a:latin typeface="Aptos" panose="020B0004020202020204" pitchFamily="34" charset="0"/>
            </a:endParaRPr>
          </a:p>
          <a:p>
            <a:r>
              <a:rPr lang="en-US" sz="1200" b="1" dirty="0">
                <a:latin typeface="Aptos" panose="020B0004020202020204" pitchFamily="34" charset="0"/>
              </a:rPr>
              <a:t>Suggestion: </a:t>
            </a:r>
            <a:r>
              <a:rPr lang="en-US" sz="1200" dirty="0">
                <a:latin typeface="Aptos" panose="020B0004020202020204" pitchFamily="34" charset="0"/>
              </a:rPr>
              <a:t>Maintain strong relationships with high-value customers through loyalty programs or exclusive offers.</a:t>
            </a:r>
            <a:br>
              <a:rPr lang="en-US" sz="1200" dirty="0">
                <a:latin typeface="Aptos" panose="020B0004020202020204" pitchFamily="34" charset="0"/>
              </a:rPr>
            </a:br>
            <a:endParaRPr lang="en-US" sz="1200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r>
              <a:rPr lang="en-US" sz="1200" b="1" dirty="0">
                <a:solidFill>
                  <a:srgbClr val="0070C0"/>
                </a:solidFill>
                <a:latin typeface="Aptos" panose="020B0004020202020204" pitchFamily="34" charset="0"/>
              </a:rPr>
              <a:t>3. Profit Analysis – Product Wise</a:t>
            </a:r>
            <a:br>
              <a:rPr lang="en-US" sz="1200" b="1" dirty="0">
                <a:latin typeface="Aptos" panose="020B0004020202020204" pitchFamily="34" charset="0"/>
              </a:rPr>
            </a:br>
            <a:endParaRPr lang="en-US" sz="1200" b="1" dirty="0">
              <a:latin typeface="Aptos" panose="020B00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b="1" dirty="0">
                <a:latin typeface="Aptos" panose="020B0004020202020204" pitchFamily="34" charset="0"/>
              </a:rPr>
              <a:t>Printer</a:t>
            </a:r>
            <a:r>
              <a:rPr lang="en-US" sz="1200" dirty="0">
                <a:latin typeface="Aptos" panose="020B0004020202020204" pitchFamily="34" charset="0"/>
              </a:rPr>
              <a:t> has the </a:t>
            </a:r>
            <a:r>
              <a:rPr lang="en-US" sz="1200" b="1" dirty="0">
                <a:latin typeface="Aptos" panose="020B0004020202020204" pitchFamily="34" charset="0"/>
              </a:rPr>
              <a:t>highest total profit (₹2.32M)</a:t>
            </a:r>
            <a:r>
              <a:rPr lang="en-US" sz="1200" dirty="0">
                <a:latin typeface="Aptos" panose="020B0004020202020204" pitchFamily="34" charset="0"/>
              </a:rPr>
              <a:t>, followed by </a:t>
            </a:r>
            <a:r>
              <a:rPr lang="en-US" sz="1200" b="1" dirty="0">
                <a:latin typeface="Aptos" panose="020B0004020202020204" pitchFamily="34" charset="0"/>
              </a:rPr>
              <a:t>Monitor (₹1.93M)</a:t>
            </a:r>
            <a:r>
              <a:rPr lang="en-US" sz="1200" dirty="0">
                <a:latin typeface="Aptos" panose="020B0004020202020204" pitchFamily="34" charset="0"/>
              </a:rPr>
              <a:t> and </a:t>
            </a:r>
            <a:r>
              <a:rPr lang="en-US" sz="1200" b="1" dirty="0">
                <a:latin typeface="Aptos" panose="020B0004020202020204" pitchFamily="34" charset="0"/>
              </a:rPr>
              <a:t>Smartphone (₹1.82M)</a:t>
            </a:r>
            <a:r>
              <a:rPr lang="en-US" sz="1200" dirty="0">
                <a:latin typeface="Aptos" panose="020B00040202020202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Aptos" panose="020B0004020202020204" pitchFamily="34" charset="0"/>
              </a:rPr>
              <a:t>Products like </a:t>
            </a:r>
            <a:r>
              <a:rPr lang="en-US" sz="1200" b="1" dirty="0">
                <a:latin typeface="Aptos" panose="020B0004020202020204" pitchFamily="34" charset="0"/>
              </a:rPr>
              <a:t>Speakers</a:t>
            </a:r>
            <a:r>
              <a:rPr lang="en-US" sz="1200" dirty="0">
                <a:latin typeface="Aptos" panose="020B0004020202020204" pitchFamily="34" charset="0"/>
              </a:rPr>
              <a:t> and </a:t>
            </a:r>
            <a:r>
              <a:rPr lang="en-US" sz="1200" b="1" dirty="0">
                <a:latin typeface="Aptos" panose="020B0004020202020204" pitchFamily="34" charset="0"/>
              </a:rPr>
              <a:t>Laptops</a:t>
            </a:r>
            <a:r>
              <a:rPr lang="en-US" sz="1200" dirty="0">
                <a:latin typeface="Aptos" panose="020B0004020202020204" pitchFamily="34" charset="0"/>
              </a:rPr>
              <a:t> also yield good profitability.</a:t>
            </a:r>
          </a:p>
          <a:p>
            <a:br>
              <a:rPr lang="en-US" sz="1200" dirty="0">
                <a:solidFill>
                  <a:srgbClr val="0070C0"/>
                </a:solidFill>
                <a:latin typeface="Aptos" panose="020B0004020202020204" pitchFamily="34" charset="0"/>
              </a:rPr>
            </a:br>
            <a:r>
              <a:rPr lang="en-US" sz="1200" b="1" dirty="0">
                <a:latin typeface="Aptos" panose="020B0004020202020204" pitchFamily="34" charset="0"/>
              </a:rPr>
              <a:t>Suggestion: </a:t>
            </a:r>
            <a:r>
              <a:rPr lang="en-US" sz="1200" dirty="0">
                <a:latin typeface="Aptos" panose="020B0004020202020204" pitchFamily="34" charset="0"/>
              </a:rPr>
              <a:t>Focus on these products for upselling and bundle offers.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latin typeface="Aptos" panose="020B0004020202020204" pitchFamily="34" charset="0"/>
            </a:endParaRPr>
          </a:p>
          <a:p>
            <a:pPr>
              <a:buNone/>
            </a:pPr>
            <a:br>
              <a:rPr lang="en-US" sz="1200" dirty="0">
                <a:latin typeface="Aptos" panose="020B0004020202020204" pitchFamily="34" charset="0"/>
              </a:rPr>
            </a:br>
            <a:endParaRPr lang="en-US" sz="1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272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0611-AC86-0C37-41E0-276020878B4E}"/>
              </a:ext>
            </a:extLst>
          </p:cNvPr>
          <p:cNvSpPr txBox="1"/>
          <p:nvPr/>
        </p:nvSpPr>
        <p:spPr>
          <a:xfrm>
            <a:off x="2956170" y="1236092"/>
            <a:ext cx="6099906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sz="1100" dirty="0">
                <a:latin typeface="Aptos" panose="020B0004020202020204" pitchFamily="34" charset="0"/>
              </a:rPr>
            </a:br>
            <a:endParaRPr lang="en-US" sz="1100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sz="1200" b="1" dirty="0">
                <a:solidFill>
                  <a:srgbClr val="0070C0"/>
                </a:solidFill>
                <a:latin typeface="Aptos" panose="020B0004020202020204" pitchFamily="34" charset="0"/>
              </a:rPr>
              <a:t>4. Category-wise Sales Distribution</a:t>
            </a:r>
            <a:br>
              <a:rPr lang="en-US" sz="1100" b="1" dirty="0">
                <a:latin typeface="Aptos" panose="020B0004020202020204" pitchFamily="34" charset="0"/>
              </a:rPr>
            </a:br>
            <a:endParaRPr lang="en-US" sz="1100" b="1" dirty="0">
              <a:latin typeface="Aptos" panose="020B00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100" b="1" dirty="0">
                <a:latin typeface="Aptos" panose="020B0004020202020204" pitchFamily="34" charset="0"/>
              </a:rPr>
              <a:t>Accessories</a:t>
            </a:r>
            <a:r>
              <a:rPr lang="en-US" sz="1100" dirty="0">
                <a:latin typeface="Aptos" panose="020B0004020202020204" pitchFamily="34" charset="0"/>
              </a:rPr>
              <a:t> dominate with the </a:t>
            </a:r>
            <a:r>
              <a:rPr lang="en-US" sz="1100" b="1" dirty="0">
                <a:latin typeface="Aptos" panose="020B0004020202020204" pitchFamily="34" charset="0"/>
              </a:rPr>
              <a:t>highest</a:t>
            </a:r>
            <a:r>
              <a:rPr lang="en-US" sz="1100" dirty="0">
                <a:latin typeface="Aptos" panose="020B0004020202020204" pitchFamily="34" charset="0"/>
              </a:rPr>
              <a:t> market share with </a:t>
            </a:r>
            <a:r>
              <a:rPr lang="en-US" sz="1100" b="1" dirty="0">
                <a:latin typeface="Aptos" panose="020B0004020202020204" pitchFamily="34" charset="0"/>
              </a:rPr>
              <a:t>51.65%</a:t>
            </a:r>
            <a:r>
              <a:rPr lang="en-US" sz="1100" dirty="0">
                <a:latin typeface="Aptos" panose="020B0004020202020204" pitchFamily="34" charset="0"/>
              </a:rPr>
              <a:t> of total sales.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b="1" dirty="0">
                <a:latin typeface="Aptos" panose="020B0004020202020204" pitchFamily="34" charset="0"/>
              </a:rPr>
              <a:t>Computers</a:t>
            </a:r>
            <a:r>
              <a:rPr lang="en-US" sz="1100" dirty="0">
                <a:latin typeface="Aptos" panose="020B0004020202020204" pitchFamily="34" charset="0"/>
              </a:rPr>
              <a:t> account for </a:t>
            </a:r>
            <a:r>
              <a:rPr lang="en-US" sz="1100" b="1" dirty="0">
                <a:latin typeface="Aptos" panose="020B0004020202020204" pitchFamily="34" charset="0"/>
              </a:rPr>
              <a:t>32.44% </a:t>
            </a:r>
            <a:r>
              <a:rPr lang="en-US" sz="1100" dirty="0">
                <a:latin typeface="Aptos" panose="020B0004020202020204" pitchFamily="34" charset="0"/>
              </a:rPr>
              <a:t>market share, followed by </a:t>
            </a:r>
            <a:r>
              <a:rPr lang="en-US" sz="1100" b="1" dirty="0">
                <a:latin typeface="Aptos" panose="020B0004020202020204" pitchFamily="34" charset="0"/>
              </a:rPr>
              <a:t>Mobile (8.4%)</a:t>
            </a:r>
            <a:r>
              <a:rPr lang="en-US" sz="1100" dirty="0">
                <a:latin typeface="Aptos" panose="020B0004020202020204" pitchFamily="34" charset="0"/>
              </a:rPr>
              <a:t> and </a:t>
            </a:r>
            <a:r>
              <a:rPr lang="en-US" sz="1100" b="1" dirty="0">
                <a:latin typeface="Aptos" panose="020B0004020202020204" pitchFamily="34" charset="0"/>
              </a:rPr>
              <a:t>Networking (7.5%) </a:t>
            </a:r>
            <a:r>
              <a:rPr lang="en-US" sz="1100" dirty="0">
                <a:latin typeface="Aptos" panose="020B0004020202020204" pitchFamily="34" charset="0"/>
              </a:rPr>
              <a:t>market share in terms of revenue.</a:t>
            </a:r>
          </a:p>
          <a:p>
            <a:br>
              <a:rPr lang="en-US" sz="1100" dirty="0">
                <a:latin typeface="Aptos" panose="020B0004020202020204" pitchFamily="34" charset="0"/>
              </a:rPr>
            </a:br>
            <a:r>
              <a:rPr lang="en-US" sz="1100" b="1" dirty="0">
                <a:latin typeface="Aptos" panose="020B0004020202020204" pitchFamily="34" charset="0"/>
              </a:rPr>
              <a:t>Suggestion: </a:t>
            </a:r>
            <a:r>
              <a:rPr lang="en-US" sz="1100" dirty="0">
                <a:latin typeface="Aptos" panose="020B0004020202020204" pitchFamily="34" charset="0"/>
              </a:rPr>
              <a:t>Explore opportunities to boost sales in </a:t>
            </a:r>
            <a:r>
              <a:rPr lang="en-US" sz="1100" b="1" dirty="0">
                <a:latin typeface="Aptos" panose="020B0004020202020204" pitchFamily="34" charset="0"/>
              </a:rPr>
              <a:t>Mobile</a:t>
            </a:r>
            <a:r>
              <a:rPr lang="en-US" sz="1100" dirty="0">
                <a:latin typeface="Aptos" panose="020B0004020202020204" pitchFamily="34" charset="0"/>
              </a:rPr>
              <a:t> and </a:t>
            </a:r>
            <a:r>
              <a:rPr lang="en-US" sz="1100" b="1" dirty="0">
                <a:latin typeface="Aptos" panose="020B0004020202020204" pitchFamily="34" charset="0"/>
              </a:rPr>
              <a:t>Networking</a:t>
            </a:r>
            <a:r>
              <a:rPr lang="en-US" sz="1100" dirty="0">
                <a:latin typeface="Aptos" panose="020B0004020202020204" pitchFamily="34" charset="0"/>
              </a:rPr>
              <a:t> categories.</a:t>
            </a:r>
          </a:p>
          <a:p>
            <a:pPr>
              <a:buNone/>
            </a:pPr>
            <a:br>
              <a:rPr lang="en-US" sz="1100" dirty="0">
                <a:latin typeface="Aptos" panose="020B0004020202020204" pitchFamily="34" charset="0"/>
              </a:rPr>
            </a:br>
            <a:endParaRPr lang="en-US" sz="1100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sz="1200" b="1" dirty="0">
                <a:solidFill>
                  <a:srgbClr val="0070C0"/>
                </a:solidFill>
                <a:latin typeface="Aptos" panose="020B0004020202020204" pitchFamily="34" charset="0"/>
              </a:rPr>
              <a:t> 5. Monthly Sales Trend</a:t>
            </a:r>
            <a:br>
              <a:rPr lang="en-US" sz="1100" b="1" dirty="0">
                <a:latin typeface="Aptos" panose="020B0004020202020204" pitchFamily="34" charset="0"/>
              </a:rPr>
            </a:br>
            <a:endParaRPr lang="en-US" sz="1100" b="1" dirty="0">
              <a:latin typeface="Aptos" panose="020B00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100" b="1" dirty="0">
                <a:latin typeface="Aptos" panose="020B0004020202020204" pitchFamily="34" charset="0"/>
              </a:rPr>
              <a:t>Peak sales months:</a:t>
            </a:r>
            <a:r>
              <a:rPr lang="en-US" sz="1100" dirty="0">
                <a:latin typeface="Aptos" panose="020B0004020202020204" pitchFamily="34" charset="0"/>
              </a:rPr>
              <a:t> </a:t>
            </a:r>
            <a:r>
              <a:rPr lang="en-US" sz="1100" b="1" dirty="0">
                <a:latin typeface="Aptos" panose="020B0004020202020204" pitchFamily="34" charset="0"/>
              </a:rPr>
              <a:t>August (₹24.22M)</a:t>
            </a:r>
            <a:r>
              <a:rPr lang="en-US" sz="1100" dirty="0">
                <a:latin typeface="Aptos" panose="020B0004020202020204" pitchFamily="34" charset="0"/>
              </a:rPr>
              <a:t> and </a:t>
            </a:r>
            <a:r>
              <a:rPr lang="en-US" sz="1100" b="1" dirty="0">
                <a:latin typeface="Aptos" panose="020B0004020202020204" pitchFamily="34" charset="0"/>
              </a:rPr>
              <a:t>January (₹24.19M)</a:t>
            </a:r>
            <a:r>
              <a:rPr lang="en-US" sz="1100" dirty="0">
                <a:latin typeface="Aptos" panose="020B0004020202020204" pitchFamily="34" charset="0"/>
              </a:rPr>
              <a:t> 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b="1" dirty="0">
                <a:latin typeface="Aptos" panose="020B0004020202020204" pitchFamily="34" charset="0"/>
              </a:rPr>
              <a:t>Lowest sales month:</a:t>
            </a:r>
            <a:r>
              <a:rPr lang="en-US" sz="1100" dirty="0">
                <a:latin typeface="Aptos" panose="020B0004020202020204" pitchFamily="34" charset="0"/>
              </a:rPr>
              <a:t> </a:t>
            </a:r>
            <a:r>
              <a:rPr lang="en-US" sz="1100" b="1" dirty="0">
                <a:latin typeface="Aptos" panose="020B0004020202020204" pitchFamily="34" charset="0"/>
              </a:rPr>
              <a:t>March (₹17.04M)</a:t>
            </a:r>
            <a:r>
              <a:rPr lang="en-US" sz="1100" dirty="0">
                <a:latin typeface="Aptos" panose="020B0004020202020204" pitchFamily="34" charset="0"/>
              </a:rPr>
              <a:t>.</a:t>
            </a:r>
          </a:p>
          <a:p>
            <a:br>
              <a:rPr lang="en-US" sz="1100" dirty="0">
                <a:latin typeface="Aptos" panose="020B0004020202020204" pitchFamily="34" charset="0"/>
              </a:rPr>
            </a:br>
            <a:r>
              <a:rPr lang="en-US" sz="1100" b="1" dirty="0">
                <a:latin typeface="Aptos" panose="020B0004020202020204" pitchFamily="34" charset="0"/>
              </a:rPr>
              <a:t>Suggestion: </a:t>
            </a:r>
            <a:r>
              <a:rPr lang="en-US" sz="1100" dirty="0">
                <a:latin typeface="Aptos" panose="020B0004020202020204" pitchFamily="34" charset="0"/>
              </a:rPr>
              <a:t>Analyze seasonal patterns and plan marketing campaigns to boost sales in low-performing months.</a:t>
            </a:r>
            <a:br>
              <a:rPr lang="en-US" sz="1100" dirty="0">
                <a:latin typeface="Aptos" panose="020B0004020202020204" pitchFamily="34" charset="0"/>
              </a:rPr>
            </a:br>
            <a:br>
              <a:rPr lang="en-US" sz="1100" dirty="0">
                <a:latin typeface="Aptos" panose="020B0004020202020204" pitchFamily="34" charset="0"/>
              </a:rPr>
            </a:br>
            <a:endParaRPr lang="en-US" sz="1200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r>
              <a:rPr lang="en-US" sz="1200" b="1" dirty="0">
                <a:solidFill>
                  <a:srgbClr val="0070C0"/>
                </a:solidFill>
                <a:latin typeface="Aptos" panose="020B0004020202020204" pitchFamily="34" charset="0"/>
              </a:rPr>
              <a:t>6. City &amp; Product Name Filters</a:t>
            </a:r>
            <a:br>
              <a:rPr lang="en-US" sz="1100" b="1" dirty="0">
                <a:solidFill>
                  <a:srgbClr val="00B0F0"/>
                </a:solidFill>
                <a:latin typeface="Aptos" panose="020B0004020202020204" pitchFamily="34" charset="0"/>
              </a:rPr>
            </a:br>
            <a:endParaRPr lang="en-US" sz="1100" b="1" dirty="0">
              <a:solidFill>
                <a:srgbClr val="00B0F0"/>
              </a:solidFill>
              <a:latin typeface="Aptos" panose="020B00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Aptos" panose="020B0004020202020204" pitchFamily="34" charset="0"/>
              </a:rPr>
              <a:t>Dashboard includes slicers for </a:t>
            </a:r>
            <a:r>
              <a:rPr lang="en-US" sz="1100" b="1" dirty="0">
                <a:latin typeface="Aptos" panose="020B0004020202020204" pitchFamily="34" charset="0"/>
              </a:rPr>
              <a:t>City</a:t>
            </a:r>
            <a:r>
              <a:rPr lang="en-US" sz="1100" dirty="0">
                <a:latin typeface="Aptos" panose="020B0004020202020204" pitchFamily="34" charset="0"/>
              </a:rPr>
              <a:t> and </a:t>
            </a:r>
            <a:r>
              <a:rPr lang="en-US" sz="1100" b="1" dirty="0">
                <a:latin typeface="Aptos" panose="020B0004020202020204" pitchFamily="34" charset="0"/>
              </a:rPr>
              <a:t>Product Name</a:t>
            </a:r>
            <a:r>
              <a:rPr lang="en-US" sz="1100" dirty="0">
                <a:latin typeface="Aptos" panose="020B0004020202020204" pitchFamily="34" charset="0"/>
              </a:rPr>
              <a:t> to enable location-wise and product-specific insights.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Aptos" panose="020B0004020202020204" pitchFamily="34" charset="0"/>
              </a:rPr>
              <a:t>Enables management to identify high-performing regions and target improvement areas.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1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924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BAA58B-C91C-0D34-53E3-B7CE05F03C6E}"/>
              </a:ext>
            </a:extLst>
          </p:cNvPr>
          <p:cNvSpPr txBox="1"/>
          <p:nvPr/>
        </p:nvSpPr>
        <p:spPr>
          <a:xfrm>
            <a:off x="3046047" y="320827"/>
            <a:ext cx="6099906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300" b="1" dirty="0">
              <a:solidFill>
                <a:srgbClr val="C00000"/>
              </a:solidFill>
              <a:latin typeface="Aptos" panose="020B0004020202020204" pitchFamily="34" charset="0"/>
            </a:endParaRPr>
          </a:p>
          <a:p>
            <a:pPr>
              <a:buNone/>
            </a:pPr>
            <a:endParaRPr lang="en-US" sz="1300" b="1" dirty="0">
              <a:solidFill>
                <a:srgbClr val="C00000"/>
              </a:solidFill>
              <a:latin typeface="Aptos" panose="020B0004020202020204" pitchFamily="34" charset="0"/>
            </a:endParaRPr>
          </a:p>
          <a:p>
            <a:pPr>
              <a:buNone/>
            </a:pPr>
            <a:endParaRPr lang="en-US" sz="1300" b="1" dirty="0">
              <a:solidFill>
                <a:srgbClr val="C00000"/>
              </a:solidFill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sz="1300" b="1" dirty="0">
                <a:solidFill>
                  <a:srgbClr val="C00000"/>
                </a:solidFill>
                <a:latin typeface="Aptos" panose="020B0004020202020204" pitchFamily="34" charset="0"/>
              </a:rPr>
              <a:t>                                                         </a:t>
            </a:r>
            <a:r>
              <a:rPr lang="en-US" sz="1600" b="1" dirty="0">
                <a:solidFill>
                  <a:srgbClr val="C00000"/>
                </a:solidFill>
                <a:latin typeface="Aptos" panose="020B0004020202020204" pitchFamily="34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Aptos" panose="020B0004020202020204" pitchFamily="34" charset="0"/>
              </a:rPr>
              <a:t>Overall Summary</a:t>
            </a:r>
          </a:p>
          <a:p>
            <a:pPr>
              <a:buNone/>
            </a:pPr>
            <a:br>
              <a:rPr lang="en-US" sz="1600" b="1" dirty="0">
                <a:solidFill>
                  <a:srgbClr val="C00000"/>
                </a:solidFill>
                <a:latin typeface="Aptos" panose="020B0004020202020204" pitchFamily="34" charset="0"/>
              </a:rPr>
            </a:br>
            <a:br>
              <a:rPr lang="en-US" sz="1400" b="1" dirty="0">
                <a:solidFill>
                  <a:srgbClr val="C00000"/>
                </a:solidFill>
                <a:latin typeface="Aptos" panose="020B0004020202020204" pitchFamily="34" charset="0"/>
              </a:rPr>
            </a:br>
            <a:endParaRPr lang="en-US" sz="1400" b="1" dirty="0">
              <a:latin typeface="Aptos" panose="020B00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Aptos" panose="020B0004020202020204" pitchFamily="34" charset="0"/>
              </a:rPr>
              <a:t>The company’s </a:t>
            </a:r>
            <a:r>
              <a:rPr lang="en-US" sz="1400" b="1" dirty="0">
                <a:latin typeface="Aptos" panose="020B0004020202020204" pitchFamily="34" charset="0"/>
              </a:rPr>
              <a:t>revenue is driven by high-value electronic products</a:t>
            </a:r>
            <a:r>
              <a:rPr lang="en-US" sz="1400" dirty="0">
                <a:latin typeface="Aptos" panose="020B0004020202020204" pitchFamily="34" charset="0"/>
              </a:rPr>
              <a:t> (Printers, Laptops).</a:t>
            </a:r>
            <a:br>
              <a:rPr lang="en-US" sz="1400" dirty="0">
                <a:latin typeface="Aptos" panose="020B0004020202020204" pitchFamily="34" charset="0"/>
              </a:rPr>
            </a:br>
            <a:br>
              <a:rPr lang="en-US" sz="1400" dirty="0">
                <a:latin typeface="Aptos" panose="020B0004020202020204" pitchFamily="34" charset="0"/>
              </a:rPr>
            </a:br>
            <a:endParaRPr lang="en-US" sz="1400" dirty="0">
              <a:latin typeface="Aptos" panose="020B00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latin typeface="Aptos" panose="020B0004020202020204" pitchFamily="34" charset="0"/>
              </a:rPr>
              <a:t>Profitability aligns closely with product demand</a:t>
            </a:r>
            <a:r>
              <a:rPr lang="en-US" sz="1400" dirty="0">
                <a:latin typeface="Aptos" panose="020B0004020202020204" pitchFamily="34" charset="0"/>
              </a:rPr>
              <a:t>, showing healthy margins.</a:t>
            </a:r>
            <a:br>
              <a:rPr lang="en-US" sz="1400" dirty="0">
                <a:latin typeface="Aptos" panose="020B0004020202020204" pitchFamily="34" charset="0"/>
              </a:rPr>
            </a:br>
            <a:br>
              <a:rPr lang="en-US" sz="1400" dirty="0">
                <a:latin typeface="Aptos" panose="020B0004020202020204" pitchFamily="34" charset="0"/>
              </a:rPr>
            </a:br>
            <a:endParaRPr lang="en-US" sz="1400" dirty="0">
              <a:latin typeface="Aptos" panose="020B00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latin typeface="Aptos" panose="020B0004020202020204" pitchFamily="34" charset="0"/>
              </a:rPr>
              <a:t>Computers and Accessories</a:t>
            </a:r>
            <a:r>
              <a:rPr lang="en-US" sz="1400" dirty="0">
                <a:latin typeface="Aptos" panose="020B0004020202020204" pitchFamily="34" charset="0"/>
              </a:rPr>
              <a:t> lead in sales contribution, while </a:t>
            </a:r>
            <a:r>
              <a:rPr lang="en-US" sz="1400" b="1" dirty="0">
                <a:latin typeface="Aptos" panose="020B0004020202020204" pitchFamily="34" charset="0"/>
              </a:rPr>
              <a:t>seasonal fluctuations</a:t>
            </a:r>
            <a:r>
              <a:rPr lang="en-US" sz="1400" dirty="0">
                <a:latin typeface="Aptos" panose="020B0004020202020204" pitchFamily="34" charset="0"/>
              </a:rPr>
              <a:t> suggest strategic marketing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1706527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53601-0047-97A2-A335-C0C51C643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4488" y="101599"/>
            <a:ext cx="3338619" cy="539423"/>
          </a:xfrm>
        </p:spPr>
        <p:txBody>
          <a:bodyPr>
            <a:normAutofit/>
          </a:bodyPr>
          <a:lstStyle/>
          <a:p>
            <a:r>
              <a:rPr lang="en-IN" sz="2400" b="1" u="sng" dirty="0">
                <a:solidFill>
                  <a:srgbClr val="0070C0"/>
                </a:solidFill>
                <a:latin typeface="Aptos" panose="020B0004020202020204" pitchFamily="34" charset="0"/>
              </a:rPr>
              <a:t>Power BI Dashboard</a:t>
            </a:r>
            <a:endParaRPr lang="en-IN" sz="24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3F8109-A0D3-2210-1329-29732E61EF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3"/>
          <a:stretch>
            <a:fillRect/>
          </a:stretch>
        </p:blipFill>
        <p:spPr>
          <a:xfrm>
            <a:off x="1873" y="703385"/>
            <a:ext cx="12188253" cy="615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721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1EB5B-2341-1554-B431-76E66DD60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4099" y="2490617"/>
            <a:ext cx="6734648" cy="1280890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0070C0"/>
                </a:solidFill>
              </a:rPr>
              <a:t>Thank You </a:t>
            </a:r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E6F919D4-5D10-4121-B1DD-6219B7164E4D}"/>
              </a:ext>
            </a:extLst>
          </p:cNvPr>
          <p:cNvSpPr/>
          <p:nvPr/>
        </p:nvSpPr>
        <p:spPr>
          <a:xfrm>
            <a:off x="7164371" y="2564090"/>
            <a:ext cx="688157" cy="716437"/>
          </a:xfrm>
          <a:prstGeom prst="smileyFac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38441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876</TotalTime>
  <Words>417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Century Gothic</vt:lpstr>
      <vt:lpstr>Wingdings 3</vt:lpstr>
      <vt:lpstr>Wisp</vt:lpstr>
      <vt:lpstr>                      “Cavitak- Data Analyst Assignment”  GitHub Link for Dashboard:-https://github.com/hemantg111/Cavitak_Assignment_Power-BI.git</vt:lpstr>
      <vt:lpstr>PowerPoint Presentation</vt:lpstr>
      <vt:lpstr>PowerPoint Presentation</vt:lpstr>
      <vt:lpstr>PowerPoint Presentation</vt:lpstr>
      <vt:lpstr>Power BI Dashboard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 gupta</dc:creator>
  <cp:lastModifiedBy>harshit gupta</cp:lastModifiedBy>
  <cp:revision>164</cp:revision>
  <dcterms:created xsi:type="dcterms:W3CDTF">2024-07-26T17:42:38Z</dcterms:created>
  <dcterms:modified xsi:type="dcterms:W3CDTF">2025-11-09T18:07:58Z</dcterms:modified>
</cp:coreProperties>
</file>